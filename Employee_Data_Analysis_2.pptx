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8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24" autoAdjust="0"/>
    <p:restoredTop sz="94660"/>
  </p:normalViewPr>
  <p:slideViewPr>
    <p:cSldViewPr>
      <p:cViewPr varScale="1">
        <p:scale>
          <a:sx n="83" d="100"/>
          <a:sy n="83" d="100"/>
        </p:scale>
        <p:origin x="102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duru Narasimha" userId="bd3f5b018a89079d" providerId="LiveId" clId="{69F0B7B8-A48D-48FD-8D34-6509FC35AB36}"/>
    <pc:docChg chg="modSld">
      <pc:chgData name="Konduru Narasimha" userId="bd3f5b018a89079d" providerId="LiveId" clId="{69F0B7B8-A48D-48FD-8D34-6509FC35AB36}" dt="2024-03-30T14:42:22.571" v="0" actId="1076"/>
      <pc:docMkLst>
        <pc:docMk/>
      </pc:docMkLst>
      <pc:sldChg chg="modSp mod">
        <pc:chgData name="Konduru Narasimha" userId="bd3f5b018a89079d" providerId="LiveId" clId="{69F0B7B8-A48D-48FD-8D34-6509FC35AB36}" dt="2024-03-30T14:42:22.571" v="0" actId="1076"/>
        <pc:sldMkLst>
          <pc:docMk/>
          <pc:sldMk cId="0" sldId="265"/>
        </pc:sldMkLst>
        <pc:picChg chg="mod">
          <ac:chgData name="Konduru Narasimha" userId="bd3f5b018a89079d" providerId="LiveId" clId="{69F0B7B8-A48D-48FD-8D34-6509FC35AB36}" dt="2024-03-30T14:42:22.571" v="0" actId="1076"/>
          <ac:picMkLst>
            <pc:docMk/>
            <pc:sldMk cId="0" sldId="265"/>
            <ac:picMk id="13" creationId="{FEA2EDFA-59A4-12BC-EED8-7AFB8BE2180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dhumitha\Downloads\Employee_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DEPARTMENT</a:t>
            </a:r>
            <a:r>
              <a:rPr lang="en-US" baseline="0"/>
              <a:t> ANALYSIS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Sheet2!$D$2</c:f>
              <c:strCache>
                <c:ptCount val="1"/>
                <c:pt idx="0">
                  <c:v>research and development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Sheet2!$D$3</c:f>
              <c:strCache>
                <c:ptCount val="1"/>
                <c:pt idx="0">
                  <c:v>product management 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Sheet2!$E$3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Sheet2!$D$4</c:f>
              <c:strCache>
                <c:ptCount val="1"/>
                <c:pt idx="0">
                  <c:v>null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Sheet2!$E$4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ser>
          <c:idx val="3"/>
          <c:order val="3"/>
          <c:tx>
            <c:strRef>
              <c:f>Sheet2!$D$5</c:f>
              <c:strCache>
                <c:ptCount val="1"/>
                <c:pt idx="0">
                  <c:v>marketing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Sheet2!$E$5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4"/>
          <c:order val="4"/>
          <c:tx>
            <c:strRef>
              <c:f>Sheet2!$D$6</c:f>
              <c:strCache>
                <c:ptCount val="1"/>
                <c:pt idx="0">
                  <c:v>legal 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Sheet2!$E$6</c:f>
              <c:numCache>
                <c:formatCode>General</c:formatCode>
                <c:ptCount val="1"/>
                <c:pt idx="0">
                  <c:v>18</c:v>
                </c:pt>
              </c:numCache>
            </c:numRef>
          </c:val>
        </c:ser>
        <c:ser>
          <c:idx val="5"/>
          <c:order val="5"/>
          <c:tx>
            <c:strRef>
              <c:f>Sheet2!$D$7</c:f>
              <c:strCache>
                <c:ptCount val="1"/>
                <c:pt idx="0">
                  <c:v>human resource 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Sheet2!$E$7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</c:ser>
        <c:ser>
          <c:idx val="6"/>
          <c:order val="6"/>
          <c:tx>
            <c:strRef>
              <c:f>Sheet2!$D$8</c:f>
              <c:strCache>
                <c:ptCount val="1"/>
                <c:pt idx="0">
                  <c:v>business development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Sheet2!$E$8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7"/>
          <c:order val="7"/>
          <c:tx>
            <c:strRef>
              <c:f>Sheet2!$D$9</c:f>
              <c:strCache>
                <c:ptCount val="1"/>
                <c:pt idx="0">
                  <c:v>engineering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Sheet2!$E$9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</c:ser>
        <c:ser>
          <c:idx val="8"/>
          <c:order val="8"/>
          <c:tx>
            <c:strRef>
              <c:f>Sheet2!$D$10</c:f>
              <c:strCache>
                <c:ptCount val="1"/>
                <c:pt idx="0">
                  <c:v>sales 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Sheet2!$E$10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ser>
          <c:idx val="9"/>
          <c:order val="9"/>
          <c:tx>
            <c:strRef>
              <c:f>Sheet2!$D$11</c:f>
              <c:strCache>
                <c:ptCount val="1"/>
                <c:pt idx="0">
                  <c:v>service 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Sheet2!$E$11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</c:ser>
        <c:ser>
          <c:idx val="10"/>
          <c:order val="10"/>
          <c:tx>
            <c:strRef>
              <c:f>Sheet2!$D$12</c:f>
              <c:strCache>
                <c:ptCount val="1"/>
                <c:pt idx="0">
                  <c:v>support 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Sheet2!$E$12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11"/>
          <c:order val="11"/>
          <c:tx>
            <c:strRef>
              <c:f>Sheet2!$D$13</c:f>
              <c:strCache>
                <c:ptCount val="1"/>
                <c:pt idx="0">
                  <c:v>training 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Sheet2!$E$13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</c:ser>
        <c:ser>
          <c:idx val="12"/>
          <c:order val="12"/>
          <c:tx>
            <c:strRef>
              <c:f>Sheet2!$D$14</c:f>
              <c:strCache>
                <c:ptCount val="1"/>
                <c:pt idx="0">
                  <c:v>accounting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Sheet2!$E$14</c:f>
              <c:numCache>
                <c:formatCode>General</c:formatCode>
                <c:ptCount val="1"/>
                <c:pt idx="0">
                  <c:v>21</c:v>
                </c:pt>
              </c:numCache>
            </c:numRef>
          </c:val>
        </c:ser>
        <c:ser>
          <c:idx val="13"/>
          <c:order val="13"/>
          <c:tx>
            <c:strRef>
              <c:f>Sheet2!#REF!</c:f>
              <c:strCache>
                <c:ptCount val="1"/>
                <c:pt idx="0">
                  <c:v>#REF!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80000"/>
                    <a:lumOff val="2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80000"/>
                    <a:lumOff val="2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80000"/>
                    <a:lumOff val="2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Sheet2!#REF!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4128872"/>
        <c:axId val="204135536"/>
      </c:barChart>
      <c:catAx>
        <c:axId val="204128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135536"/>
        <c:crosses val="autoZero"/>
        <c:auto val="1"/>
        <c:lblAlgn val="ctr"/>
        <c:lblOffset val="100"/>
        <c:noMultiLvlLbl val="0"/>
      </c:catAx>
      <c:valAx>
        <c:axId val="20413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128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13-09-2024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828675" y="19665"/>
            <a:ext cx="9982200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Analysis using Excel</a:t>
            </a: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STUDENT NAME</a:t>
            </a:r>
            <a:r>
              <a:rPr lang="en-US" sz="2400" dirty="0" smtClean="0"/>
              <a:t>: S. MADHUMITHA</a:t>
            </a:r>
            <a:endParaRPr lang="en-US" sz="2400" dirty="0"/>
          </a:p>
          <a:p>
            <a:r>
              <a:rPr lang="en-US" sz="2400" dirty="0"/>
              <a:t>REGISTER NO</a:t>
            </a:r>
            <a:r>
              <a:rPr lang="en-US" sz="2400" dirty="0" smtClean="0"/>
              <a:t>: 312218967(asunm1701312218967)</a:t>
            </a:r>
            <a:endParaRPr lang="en-US" sz="2400" dirty="0"/>
          </a:p>
          <a:p>
            <a:r>
              <a:rPr lang="en-US" sz="2400" dirty="0" smtClean="0"/>
              <a:t>DEPARTMENT: 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year B.COM(accounting and finance)</a:t>
            </a:r>
            <a:endParaRPr lang="en-US" sz="2400" dirty="0"/>
          </a:p>
          <a:p>
            <a:r>
              <a:rPr lang="en-US" sz="2400" dirty="0" smtClean="0"/>
              <a:t>COLLEGE: APOLLO ARTS AND SCIENCE COLLEGE CHENNAI.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691EEC8-E83B-8506-163B-F39E906CCC0A}"/>
              </a:ext>
            </a:extLst>
          </p:cNvPr>
          <p:cNvSpPr txBox="1"/>
          <p:nvPr/>
        </p:nvSpPr>
        <p:spPr>
          <a:xfrm>
            <a:off x="1217522" y="2123271"/>
            <a:ext cx="85932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  <a:r>
              <a:rPr lang="en-US" sz="4400" b="1" dirty="0" smtClean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4400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using Excel</a:t>
            </a:r>
            <a:endParaRPr lang="en-IN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and Proposition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Modelling Approach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TextBox 8"/>
          <p:cNvSpPr txBox="1"/>
          <p:nvPr/>
        </p:nvSpPr>
        <p:spPr>
          <a:xfrm>
            <a:off x="76200" y="2057400"/>
            <a:ext cx="118473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roadway" panose="04040905080B02020502" pitchFamily="82" charset="0"/>
              </a:rPr>
              <a:t>Satisfying employees at work place has very been a crucial task before any organization</a:t>
            </a:r>
          </a:p>
          <a:p>
            <a:r>
              <a:rPr lang="en-US" dirty="0" smtClean="0">
                <a:latin typeface="Broadway" panose="04040905080B02020502" pitchFamily="82" charset="0"/>
              </a:rPr>
              <a:t>To ensure the success of the organization. Further the level of job satisfaction is affected</a:t>
            </a:r>
          </a:p>
          <a:p>
            <a:r>
              <a:rPr lang="en-US" dirty="0" smtClean="0">
                <a:latin typeface="Broadway" panose="04040905080B02020502" pitchFamily="82" charset="0"/>
              </a:rPr>
              <a:t>By a wide range of variables relating to individual, social, cultural, organizational and </a:t>
            </a:r>
          </a:p>
          <a:p>
            <a:r>
              <a:rPr lang="en-US" dirty="0" smtClean="0">
                <a:latin typeface="Broadway" panose="04040905080B02020502" pitchFamily="82" charset="0"/>
              </a:rPr>
              <a:t>Environment factors.</a:t>
            </a:r>
          </a:p>
          <a:p>
            <a:endParaRPr lang="en-US" dirty="0">
              <a:latin typeface="Broadway" panose="04040905080B02020502" pitchFamily="82" charset="0"/>
            </a:endParaRPr>
          </a:p>
          <a:p>
            <a:endParaRPr lang="en-US" dirty="0" smtClean="0">
              <a:latin typeface="Broadway" panose="04040905080B02020502" pitchFamily="82" charset="0"/>
            </a:endParaRPr>
          </a:p>
          <a:p>
            <a:endParaRPr lang="en-US" dirty="0">
              <a:latin typeface="Broadway" panose="04040905080B02020502" pitchFamily="82" charset="0"/>
            </a:endParaRPr>
          </a:p>
          <a:p>
            <a:endParaRPr lang="en-US" dirty="0" smtClean="0">
              <a:latin typeface="Broadway" panose="04040905080B02020502" pitchFamily="82" charset="0"/>
            </a:endParaRPr>
          </a:p>
          <a:p>
            <a:r>
              <a:rPr lang="en-US" dirty="0" smtClean="0">
                <a:latin typeface="Broadway" panose="04040905080B02020502" pitchFamily="82" charset="0"/>
              </a:rPr>
              <a:t>The department in an organization dealing with metrics involving as </a:t>
            </a:r>
          </a:p>
          <a:p>
            <a:r>
              <a:rPr lang="en-US" dirty="0" smtClean="0">
                <a:latin typeface="Broadway" panose="04040905080B02020502" pitchFamily="82" charset="0"/>
              </a:rPr>
              <a:t>Hiring, training, labor relations and benefits.</a:t>
            </a:r>
            <a:endParaRPr lang="en-US" dirty="0">
              <a:latin typeface="Broadway" panose="04040905080B020205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050B57B-77CA-84FA-9910-3F41C17BBB48}"/>
              </a:ext>
            </a:extLst>
          </p:cNvPr>
          <p:cNvSpPr txBox="1"/>
          <p:nvPr/>
        </p:nvSpPr>
        <p:spPr>
          <a:xfrm>
            <a:off x="990600" y="2133600"/>
            <a:ext cx="7924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smtClean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.The project involves analyzing employee data using excel to gain insights into workforce metrics . </a:t>
            </a:r>
            <a:r>
              <a:rPr lang="en-US" sz="2400" dirty="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organizing data , performing statistical analyzing, and creating visualizations to understand trends in employee performance , demographics , and other key indicators , thereby supporting data – driven decision – making for </a:t>
            </a:r>
            <a:r>
              <a:rPr lang="en-US" sz="2400" smtClean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strategies.</a:t>
            </a: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1905000"/>
            <a:ext cx="1055949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end user in employee department analysis typically include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*HUMAN RESOURCE* (HR) Manager** They use the insights to make informed.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Decision promotions, training, and development.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 startAt="2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*TEAM LEADERS AND SUPERVISIORS*. They performance data to provide feedback, 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Set goals and manage team performance.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3. *EMPLOYEES* They benefits from feedback and performance evaluation that help them </a:t>
            </a:r>
          </a:p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Improve and advance in their careers.</a:t>
            </a:r>
          </a:p>
          <a:p>
            <a:pPr marL="342900" indent="-342900">
              <a:buAutoNum type="arabicPeriod" startAt="2"/>
            </a:pPr>
            <a:endParaRPr lang="en-US" dirty="0"/>
          </a:p>
          <a:p>
            <a:pPr marL="342900" indent="-342900">
              <a:buAutoNum type="arabicPeriod" startAt="2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0" dirty="0"/>
              <a:t>O</a:t>
            </a:r>
            <a:r>
              <a:rPr sz="3600" spc="25" dirty="0"/>
              <a:t>U</a:t>
            </a:r>
            <a:r>
              <a:rPr sz="3600" dirty="0"/>
              <a:t>R</a:t>
            </a:r>
            <a:r>
              <a:rPr sz="3600" spc="5" dirty="0"/>
              <a:t> </a:t>
            </a:r>
            <a:r>
              <a:rPr sz="3600" spc="25" dirty="0"/>
              <a:t>S</a:t>
            </a:r>
            <a:r>
              <a:rPr sz="3600" spc="10" dirty="0"/>
              <a:t>O</a:t>
            </a:r>
            <a:r>
              <a:rPr sz="3600" spc="25" dirty="0"/>
              <a:t>LU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  <a:r>
              <a:rPr sz="3600" spc="-345" dirty="0"/>
              <a:t> </a:t>
            </a:r>
            <a:r>
              <a:rPr sz="3600" spc="-35" dirty="0"/>
              <a:t>A</a:t>
            </a:r>
            <a:r>
              <a:rPr sz="3600" spc="-5" dirty="0"/>
              <a:t>N</a:t>
            </a:r>
            <a:r>
              <a:rPr sz="3600" dirty="0"/>
              <a:t>D</a:t>
            </a:r>
            <a:r>
              <a:rPr sz="3600" spc="35" dirty="0"/>
              <a:t> 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dirty="0"/>
              <a:t>S</a:t>
            </a:r>
            <a:r>
              <a:rPr sz="3600" spc="60" dirty="0"/>
              <a:t> </a:t>
            </a:r>
            <a:r>
              <a:rPr sz="3600" spc="-295" dirty="0"/>
              <a:t>V</a:t>
            </a:r>
            <a:r>
              <a:rPr sz="3600" spc="-35" dirty="0"/>
              <a:t>A</a:t>
            </a:r>
            <a:r>
              <a:rPr sz="3600" spc="25" dirty="0"/>
              <a:t>LU</a:t>
            </a:r>
            <a:r>
              <a:rPr sz="3600" dirty="0"/>
              <a:t>E</a:t>
            </a:r>
            <a:r>
              <a:rPr sz="3600" spc="-65" dirty="0"/>
              <a:t> </a:t>
            </a:r>
            <a:r>
              <a:rPr sz="3600" spc="-15" dirty="0"/>
              <a:t>P</a:t>
            </a:r>
            <a:r>
              <a:rPr sz="3600" spc="-30" dirty="0"/>
              <a:t>R</a:t>
            </a:r>
            <a:r>
              <a:rPr sz="3600" spc="10" dirty="0"/>
              <a:t>O</a:t>
            </a:r>
            <a:r>
              <a:rPr sz="3600" spc="-15" dirty="0"/>
              <a:t>P</a:t>
            </a:r>
            <a:r>
              <a:rPr sz="3600" spc="10" dirty="0"/>
              <a:t>O</a:t>
            </a:r>
            <a:r>
              <a:rPr sz="3600" spc="25" dirty="0"/>
              <a:t>S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8" name="TextBox 7"/>
          <p:cNvSpPr txBox="1"/>
          <p:nvPr/>
        </p:nvSpPr>
        <p:spPr>
          <a:xfrm>
            <a:off x="2514600" y="5012625"/>
            <a:ext cx="6043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FILTERING  -- to fill the missing values.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 FORMATING – blank values. 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Using pivot table &amp; chart.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0800" y="1752600"/>
            <a:ext cx="547297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Employee Data set – EDUNET foundation.</a:t>
            </a:r>
          </a:p>
          <a:p>
            <a:r>
              <a:rPr lang="en-US" sz="2400" b="1" dirty="0" smtClean="0"/>
              <a:t>There are important features are,</a:t>
            </a:r>
          </a:p>
          <a:p>
            <a:endParaRPr lang="en-US" sz="2400" b="1" dirty="0"/>
          </a:p>
          <a:p>
            <a:r>
              <a:rPr lang="en-US" sz="2400" b="1" dirty="0" smtClean="0"/>
              <a:t>        *</a:t>
            </a:r>
            <a:r>
              <a:rPr lang="en-US" sz="2400" b="1" dirty="0"/>
              <a:t>E</a:t>
            </a:r>
            <a:r>
              <a:rPr lang="en-US" sz="2400" b="1" dirty="0" smtClean="0"/>
              <a:t>mployee ID  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*NAMES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 GENDER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*DEPARTMENT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*SALARY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 START DATE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 FTE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 EMPLOYEE TYPE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* WORK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5" dirty="0"/>
              <a:t>THE</a:t>
            </a:r>
            <a:r>
              <a:rPr sz="4250" spc="20" dirty="0"/>
              <a:t> </a:t>
            </a:r>
            <a:r>
              <a:rPr lang="en-US" sz="4250" spc="20" dirty="0"/>
              <a:t>"</a:t>
            </a:r>
            <a:r>
              <a:rPr sz="4250" spc="10" dirty="0"/>
              <a:t>WOW</a:t>
            </a:r>
            <a:r>
              <a:rPr lang="en-US" sz="4250" spc="10" dirty="0"/>
              <a:t>"</a:t>
            </a:r>
            <a:r>
              <a:rPr sz="4250" spc="85" dirty="0"/>
              <a:t> </a:t>
            </a:r>
            <a:r>
              <a:rPr sz="4250" spc="10" dirty="0"/>
              <a:t>IN</a:t>
            </a:r>
            <a:r>
              <a:rPr sz="4250" spc="-5" dirty="0"/>
              <a:t> </a:t>
            </a:r>
            <a:r>
              <a:rPr sz="4250" spc="15" dirty="0"/>
              <a:t>OUR</a:t>
            </a:r>
            <a:r>
              <a:rPr sz="4250" spc="-10" dirty="0"/>
              <a:t> </a:t>
            </a:r>
            <a:r>
              <a:rPr sz="4250" spc="20" dirty="0"/>
              <a:t>SOLUTION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09800" y="3308810"/>
            <a:ext cx="8220958" cy="201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Baskerville Old Face" panose="02020602080505020303" pitchFamily="18" charset="0"/>
              </a:rPr>
              <a:t>DEPARTMENT ANALYSIS – There are categories into levels such as </a:t>
            </a:r>
          </a:p>
          <a:p>
            <a:r>
              <a:rPr lang="en-US" sz="2000" dirty="0" smtClean="0">
                <a:latin typeface="Baskerville Old Face" panose="02020602080505020303" pitchFamily="18" charset="0"/>
              </a:rPr>
              <a:t>Research development, product management, null, marketing, legal, </a:t>
            </a:r>
          </a:p>
          <a:p>
            <a:r>
              <a:rPr lang="en-US" sz="2000" dirty="0" smtClean="0">
                <a:latin typeface="Baskerville Old Face" panose="02020602080505020303" pitchFamily="18" charset="0"/>
              </a:rPr>
              <a:t>Human resource, business development, engineering, sales, service,</a:t>
            </a:r>
          </a:p>
          <a:p>
            <a:r>
              <a:rPr lang="en-US" sz="2000" dirty="0" smtClean="0">
                <a:latin typeface="Baskerville Old Face" panose="02020602080505020303" pitchFamily="18" charset="0"/>
              </a:rPr>
              <a:t>Support, training and accounting.</a:t>
            </a:r>
          </a:p>
          <a:p>
            <a:endParaRPr lang="en-US" sz="2000" dirty="0">
              <a:latin typeface="Baskerville Old Face" panose="02020602080505020303" pitchFamily="18" charset="0"/>
            </a:endParaRPr>
          </a:p>
          <a:p>
            <a:r>
              <a:rPr lang="en-US" sz="2000" dirty="0" smtClean="0">
                <a:latin typeface="Baskerville Old Face" panose="02020602080505020303" pitchFamily="18" charset="0"/>
              </a:rPr>
              <a:t>Using pivot table and chart is to analysis the employees department analysis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3303904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15" dirty="0">
                <a:latin typeface="Trebuchet MS"/>
                <a:cs typeface="Trebuchet MS"/>
              </a:rPr>
              <a:t>M</a:t>
            </a:r>
            <a:r>
              <a:rPr sz="4800" b="1" dirty="0">
                <a:latin typeface="Trebuchet MS"/>
                <a:cs typeface="Trebuchet MS"/>
              </a:rPr>
              <a:t>O</a:t>
            </a:r>
            <a:r>
              <a:rPr sz="4800" b="1" spc="-15" dirty="0">
                <a:latin typeface="Trebuchet MS"/>
                <a:cs typeface="Trebuchet MS"/>
              </a:rPr>
              <a:t>D</a:t>
            </a:r>
            <a:r>
              <a:rPr sz="4800" b="1" spc="-35" dirty="0">
                <a:latin typeface="Trebuchet MS"/>
                <a:cs typeface="Trebuchet MS"/>
              </a:rPr>
              <a:t>E</a:t>
            </a:r>
            <a:r>
              <a:rPr sz="4800" b="1" spc="-30" dirty="0">
                <a:latin typeface="Trebuchet MS"/>
                <a:cs typeface="Trebuchet MS"/>
              </a:rPr>
              <a:t>LL</a:t>
            </a:r>
            <a:r>
              <a:rPr sz="4800" b="1" spc="-5" dirty="0">
                <a:latin typeface="Trebuchet MS"/>
                <a:cs typeface="Trebuchet MS"/>
              </a:rPr>
              <a:t>I</a:t>
            </a:r>
            <a:r>
              <a:rPr sz="4800" b="1" spc="30" dirty="0">
                <a:latin typeface="Trebuchet MS"/>
                <a:cs typeface="Trebuchet MS"/>
              </a:rPr>
              <a:t>N</a:t>
            </a:r>
            <a:r>
              <a:rPr sz="4800" b="1" spc="5" dirty="0">
                <a:latin typeface="Trebuchet MS"/>
                <a:cs typeface="Trebuchet MS"/>
              </a:rPr>
              <a:t>G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739775" y="1600200"/>
            <a:ext cx="700281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Elephant" panose="02020904090505020303" pitchFamily="18" charset="0"/>
              </a:rPr>
              <a:t>*Data Preparation: Clean and organize data, ensuring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accuracy and consistency</a:t>
            </a:r>
            <a:r>
              <a:rPr lang="en-US" sz="2000" dirty="0" smtClean="0">
                <a:latin typeface="Elephant" panose="02020904090505020303" pitchFamily="18" charset="0"/>
              </a:rPr>
              <a:t>.</a:t>
            </a:r>
          </a:p>
          <a:p>
            <a:r>
              <a:rPr lang="en-US" sz="2000" dirty="0">
                <a:latin typeface="Elephant" panose="02020904090505020303" pitchFamily="18" charset="0"/>
              </a:rPr>
              <a:t/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*Trend Analysis: Apply charts and graphs (e.g., line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charts, bar graphs) to visualize trends over time, such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as employee performance or turnover rates</a:t>
            </a:r>
            <a:r>
              <a:rPr lang="en-US" sz="2000" dirty="0" smtClean="0">
                <a:latin typeface="Elephant" panose="02020904090505020303" pitchFamily="18" charset="0"/>
              </a:rPr>
              <a:t>.</a:t>
            </a:r>
          </a:p>
          <a:p>
            <a:r>
              <a:rPr lang="en-US" sz="2000" dirty="0">
                <a:latin typeface="Elephant" panose="02020904090505020303" pitchFamily="18" charset="0"/>
              </a:rPr>
              <a:t/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*Pivot Tables: Create pivot tables to aggregate and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analyze data across different dimensions, such as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department, tenure, or job role</a:t>
            </a:r>
            <a:r>
              <a:rPr lang="en-US" sz="2000" dirty="0" smtClean="0">
                <a:latin typeface="Elephant" panose="02020904090505020303" pitchFamily="18" charset="0"/>
              </a:rPr>
              <a:t>.</a:t>
            </a:r>
          </a:p>
          <a:p>
            <a:r>
              <a:rPr lang="en-US" sz="2000" dirty="0">
                <a:latin typeface="Elephant" panose="02020904090505020303" pitchFamily="18" charset="0"/>
              </a:rPr>
              <a:t/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*Regression Analysis: Utilize regression functions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to identify relationships between variables, such</a:t>
            </a:r>
            <a:br>
              <a:rPr lang="en-US" sz="2000" dirty="0">
                <a:latin typeface="Elephant" panose="02020904090505020303" pitchFamily="18" charset="0"/>
              </a:rPr>
            </a:br>
            <a:r>
              <a:rPr lang="en-US" sz="2000" dirty="0">
                <a:latin typeface="Elephant" panose="02020904090505020303" pitchFamily="18" charset="0"/>
              </a:rPr>
              <a:t>as the impact of training on performance.</a:t>
            </a:r>
            <a:r>
              <a:rPr lang="en-US" sz="2000" dirty="0">
                <a:latin typeface="Elephant" panose="02020904090505020303" pitchFamily="18" charset="0"/>
              </a:rPr>
              <a:t> </a:t>
            </a:r>
            <a:br>
              <a:rPr lang="en-US" sz="2000" dirty="0">
                <a:latin typeface="Elephant" panose="02020904090505020303" pitchFamily="18" charset="0"/>
              </a:rPr>
            </a:br>
            <a:endParaRPr lang="en-US" sz="2000" dirty="0">
              <a:latin typeface="Elephant" panose="020209040905050203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243713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</a:t>
            </a:r>
            <a:r>
              <a:rPr spc="-40" dirty="0"/>
              <a:t>E</a:t>
            </a:r>
            <a:r>
              <a:rPr spc="15" dirty="0"/>
              <a:t>S</a:t>
            </a:r>
            <a:r>
              <a:rPr spc="-30" dirty="0"/>
              <a:t>U</a:t>
            </a:r>
            <a:r>
              <a:rPr spc="-405" dirty="0"/>
              <a:t>L</a:t>
            </a:r>
            <a:r>
              <a:rPr dirty="0"/>
              <a:t>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2438774"/>
              </p:ext>
            </p:extLst>
          </p:nvPr>
        </p:nvGraphicFramePr>
        <p:xfrm>
          <a:off x="2438400" y="30477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743075" y="1857375"/>
            <a:ext cx="6125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Algerian" panose="04020705040A02060702" pitchFamily="82" charset="0"/>
              </a:rPr>
              <a:t>EMPLOYEE DEPARTMENT ANALYSIS</a:t>
            </a:r>
            <a:endParaRPr lang="en-US" sz="2800" b="1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A5CB5B-BDD0-5A64-1A7C-37D3C88F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905000"/>
            <a:ext cx="10664686" cy="201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TO concluded, a department analysis is a crucial tool to provide </a:t>
            </a:r>
            <a:r>
              <a:rPr lang="en-US" sz="2400" b="1" dirty="0" err="1" smtClean="0"/>
              <a:t>organisation</a:t>
            </a:r>
            <a:r>
              <a:rPr lang="en-US" sz="2400" b="1" dirty="0" smtClean="0"/>
              <a:t> </a:t>
            </a:r>
          </a:p>
          <a:p>
            <a:r>
              <a:rPr lang="en-US" sz="2400" b="1" dirty="0" smtClean="0"/>
              <a:t>With a detailed understanding of the nature and requirements of a job for </a:t>
            </a:r>
          </a:p>
          <a:p>
            <a:r>
              <a:rPr lang="en-US" sz="2400" b="1" dirty="0" smtClean="0"/>
              <a:t>Developing accurate job description, set performance standards , designing, </a:t>
            </a:r>
          </a:p>
          <a:p>
            <a:r>
              <a:rPr lang="en-US" sz="2400" b="1" dirty="0" smtClean="0"/>
              <a:t>Effective training programs and making informed decision about recruitment</a:t>
            </a:r>
          </a:p>
          <a:p>
            <a:r>
              <a:rPr lang="en-US" sz="2400" b="1" dirty="0" smtClean="0"/>
              <a:t>Selection, promotion and compensation.</a:t>
            </a:r>
          </a:p>
        </p:txBody>
      </p:sp>
    </p:spTree>
    <p:extLst>
      <p:ext uri="{BB962C8B-B14F-4D97-AF65-F5344CB8AC3E}">
        <p14:creationId xmlns:p14="http://schemas.microsoft.com/office/powerpoint/2010/main" val="29864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485</Words>
  <Application>Microsoft Office PowerPoint</Application>
  <PresentationFormat>Widescreen</PresentationFormat>
  <Paragraphs>96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Algerian</vt:lpstr>
      <vt:lpstr>Arial</vt:lpstr>
      <vt:lpstr>Baskerville Old Face</vt:lpstr>
      <vt:lpstr>Broadway</vt:lpstr>
      <vt:lpstr>Calibri</vt:lpstr>
      <vt:lpstr>Elephant</vt:lpstr>
      <vt:lpstr>Roboto</vt:lpstr>
      <vt:lpstr>Times New Roman</vt:lpstr>
      <vt:lpstr>Trebuchet MS</vt:lpstr>
      <vt:lpstr>Office Theme</vt:lpstr>
      <vt:lpstr>Employee Data Analysis using Excel  </vt:lpstr>
      <vt:lpstr>PROJECT TITLE</vt:lpstr>
      <vt:lpstr>AGENDA</vt:lpstr>
      <vt:lpstr>PROBLEM STATEMENT</vt:lpstr>
      <vt:lpstr>PROJECT OVERVIEW</vt:lpstr>
      <vt:lpstr>WHO ARE THE END USERS?</vt:lpstr>
      <vt:lpstr>OUR SOLUTION AND ITS VALUE PROPOSITION</vt:lpstr>
      <vt:lpstr>Dataset Description</vt:lpstr>
      <vt:lpstr>THE "WOW" IN OUR SOLUTION</vt:lpstr>
      <vt:lpstr>PowerPoint Presentation</vt:lpstr>
      <vt:lpstr>RESULTS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  </dc:title>
  <dc:creator>Konduru Narasimha</dc:creator>
  <cp:lastModifiedBy>Madhumitha</cp:lastModifiedBy>
  <cp:revision>21</cp:revision>
  <dcterms:created xsi:type="dcterms:W3CDTF">2024-03-29T15:07:22Z</dcterms:created>
  <dcterms:modified xsi:type="dcterms:W3CDTF">2024-09-13T07:02:45Z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